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Cabin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  <p:embeddedFont>
      <p:font typeface="Merriweather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433710-4E86-414F-85BD-59AE8537B932}">
  <a:tblStyle styleId="{13433710-4E86-414F-85BD-59AE8537B9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bin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8.xml"/><Relationship Id="rId46" Type="http://schemas.openxmlformats.org/officeDocument/2006/relationships/font" Target="fonts/Merriweather-bold.fntdata"/><Relationship Id="rId23" Type="http://schemas.openxmlformats.org/officeDocument/2006/relationships/slide" Target="slides/slide17.xml"/><Relationship Id="rId45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Merriweather-boldItalic.fntdata"/><Relationship Id="rId25" Type="http://schemas.openxmlformats.org/officeDocument/2006/relationships/slide" Target="slides/slide19.xml"/><Relationship Id="rId47" Type="http://schemas.openxmlformats.org/officeDocument/2006/relationships/font" Target="fonts/Merriweather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schemas.openxmlformats.org/officeDocument/2006/relationships/font" Target="fonts/Cabin-regular.fnt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39" Type="http://schemas.openxmlformats.org/officeDocument/2006/relationships/font" Target="fonts/Cabin-italic.fntdata"/><Relationship Id="rId16" Type="http://schemas.openxmlformats.org/officeDocument/2006/relationships/slide" Target="slides/slide10.xml"/><Relationship Id="rId38" Type="http://schemas.openxmlformats.org/officeDocument/2006/relationships/font" Target="fonts/Cabin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e06c820d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e06c820d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e06c820d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e06c820d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e06c820d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e06c820d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e06c820d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e06c820d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e06c820d8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e06c820d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e06c820d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e06c820d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e06c820d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e06c820d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e06c820d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e06c820d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e06c820d8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e06c820d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06c820d8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e06c820d8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06c820d8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06c820d8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ea799153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ea799153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ea799153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ea799153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ea79915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ea79915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ea799153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ea799153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ea799153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ea799153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ea799153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ea799153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ea799153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ea799153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ea799153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ea799153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ea799153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ea799153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ea799153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ea799153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ea799153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ea799153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18b6e22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18b6e22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ea799153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ea799153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ef664a9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ef664a9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190508" y="2016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300"/>
              <a:t>V</a:t>
            </a:r>
            <a:r>
              <a:rPr lang="es" sz="2300"/>
              <a:t>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300"/>
              <a:t>Dataset </a:t>
            </a:r>
            <a:r>
              <a:rPr lang="es" sz="2300"/>
              <a:t>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525" y="324550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190500" y="1975175"/>
            <a:ext cx="3000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INTEGRANTES: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- Mart</a:t>
            </a:r>
            <a:r>
              <a:rPr lang="es" sz="2000"/>
              <a:t>ín Andújar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- Juan Pablo Gonzalez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3245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Problema y dataset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TrashNet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	</a:t>
            </a:r>
            <a:endParaRPr sz="2300"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525" y="14392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2812375" y="1466225"/>
            <a:ext cx="382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Tabla de contenidos</a:t>
            </a:r>
            <a:endParaRPr sz="2000"/>
          </a:p>
        </p:txBody>
      </p:sp>
      <p:sp>
        <p:nvSpPr>
          <p:cNvPr id="74" name="Google Shape;74;p14"/>
          <p:cNvSpPr txBox="1"/>
          <p:nvPr/>
        </p:nvSpPr>
        <p:spPr>
          <a:xfrm>
            <a:off x="311725" y="2175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2186525" y="2255075"/>
            <a:ext cx="41610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es" sz="1500"/>
              <a:t>Problema y Dataset (TrashNet)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s" sz="1500"/>
              <a:t>Análisis Exploratorio de Datos (EDA)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s" sz="1500"/>
              <a:t>Estrategias de Mitigación (Data Augmentation)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s" sz="1500"/>
              <a:t>Modelos Empleados y Resultados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s" sz="1500"/>
              <a:t>Conclusiones y Sugerencias</a:t>
            </a:r>
            <a:endParaRPr b="1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3245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Problema y dataset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TrashNet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	</a:t>
            </a:r>
            <a:endParaRPr sz="2300"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550" y="14392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2200800" y="1426900"/>
            <a:ext cx="51234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/>
              <a:t>El Problema: Clasificación de Residuos para Reciclaje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311725" y="2175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531375" y="2247650"/>
            <a:ext cx="7710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Abordamos la necesidad de clasificar residuos a partir de imágenes para optimizar los procesos de reciclaje y gestión.</a:t>
            </a:r>
            <a:br>
              <a:rPr lang="es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El objetivo es entrenar un modelo que identifique y clasifique distintos tipos de residuos (plástico, vidrio, papel, cartón, metal y basura).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268925" y="280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TrashNet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	</a:t>
            </a:r>
            <a:endParaRPr sz="2300"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4725" y="103950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1839850" y="1391500"/>
            <a:ext cx="512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131250" y="1391500"/>
            <a:ext cx="41700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abin"/>
                <a:ea typeface="Cabin"/>
                <a:cs typeface="Cabin"/>
                <a:sym typeface="Cabin"/>
              </a:rPr>
              <a:t>El dataset está compuesto por carpetas que contienen imágenes de residuos organizadas en distintas categorías. </a:t>
            </a:r>
            <a:endParaRPr sz="15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abin"/>
                <a:ea typeface="Cabin"/>
                <a:cs typeface="Cabin"/>
                <a:sym typeface="Cabin"/>
              </a:rPr>
              <a:t>Cada categoría incluye mayormente entre 400 y 500 imágenes en formato JPG, con una resolución de 512x384 píxeles </a:t>
            </a:r>
            <a:endParaRPr sz="15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Cabin"/>
                <a:ea typeface="Cabin"/>
                <a:cs typeface="Cabin"/>
                <a:sym typeface="Cabin"/>
              </a:rPr>
              <a:t>Se redimensionaron a 224x224 para el entrenamiento</a:t>
            </a:r>
            <a:endParaRPr sz="15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1425" y="1450350"/>
            <a:ext cx="4590777" cy="2580225"/>
          </a:xfrm>
          <a:prstGeom prst="rect">
            <a:avLst/>
          </a:prstGeom>
          <a:noFill/>
          <a:ln cap="flat" cmpd="sng" w="38100">
            <a:solidFill>
              <a:srgbClr val="FFE3B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16"/>
          <p:cNvSpPr txBox="1"/>
          <p:nvPr/>
        </p:nvSpPr>
        <p:spPr>
          <a:xfrm>
            <a:off x="77950" y="3941350"/>
            <a:ext cx="864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/>
              <a:t>Clases con </a:t>
            </a:r>
            <a:r>
              <a:rPr b="1" lang="es" sz="1500"/>
              <a:t>6 categorías</a:t>
            </a:r>
            <a:r>
              <a:rPr lang="es" sz="1500"/>
              <a:t>: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cardboard</a:t>
            </a:r>
            <a:r>
              <a:rPr lang="es" sz="1500"/>
              <a:t> (cartón) 403 imágenes        </a:t>
            </a:r>
            <a:r>
              <a:rPr lang="e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paper</a:t>
            </a:r>
            <a:r>
              <a:rPr lang="es" sz="1500"/>
              <a:t> (papel) 594 imágenes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glass</a:t>
            </a:r>
            <a:r>
              <a:rPr lang="es" sz="1500"/>
              <a:t> (vidrio) 501 imágenes                  </a:t>
            </a:r>
            <a:r>
              <a:rPr lang="e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plastic</a:t>
            </a:r>
            <a:r>
              <a:rPr lang="es" sz="1500"/>
              <a:t> (plástico) 482 imágenes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metal</a:t>
            </a:r>
            <a:r>
              <a:rPr lang="es" sz="1500"/>
              <a:t> (metal) 410 imágenes                  </a:t>
            </a:r>
            <a:r>
              <a:rPr lang="e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trash</a:t>
            </a:r>
            <a:r>
              <a:rPr lang="es" sz="1500"/>
              <a:t> (basura) 137 imágenes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3147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 una distribución desigual de ejemplos por clase.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 Mayoritaria: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1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(594 imágenes / 23.51%)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 Minoritaria Crítica: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1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trash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(137 imágenes / 5.42%) 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lto riesgo de sesgo.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	</a:t>
            </a:r>
            <a:endParaRPr sz="2300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5275" y="19422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1839850" y="1391500"/>
            <a:ext cx="512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201425" y="1391500"/>
            <a:ext cx="39795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/>
              <a:t>1. Desbalance de Clases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8004" y="1391500"/>
            <a:ext cx="2877597" cy="1183821"/>
          </a:xfrm>
          <a:prstGeom prst="rect">
            <a:avLst/>
          </a:prstGeom>
          <a:noFill/>
          <a:ln cap="flat" cmpd="sng" w="19050">
            <a:solidFill>
              <a:srgbClr val="FFE3B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" name="Google Shape;10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8004" y="2671893"/>
            <a:ext cx="2877597" cy="1183821"/>
          </a:xfrm>
          <a:prstGeom prst="rect">
            <a:avLst/>
          </a:prstGeom>
          <a:noFill/>
          <a:ln cap="flat" cmpd="sng" w="19050">
            <a:solidFill>
              <a:srgbClr val="FFE3B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1076" y="3952286"/>
            <a:ext cx="2884523" cy="1186671"/>
          </a:xfrm>
          <a:prstGeom prst="rect">
            <a:avLst/>
          </a:prstGeom>
          <a:noFill/>
          <a:ln cap="flat" cmpd="sng" w="19050">
            <a:solidFill>
              <a:srgbClr val="FFE3B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7"/>
          <p:cNvSpPr txBox="1"/>
          <p:nvPr/>
        </p:nvSpPr>
        <p:spPr>
          <a:xfrm>
            <a:off x="311725" y="2826850"/>
            <a:ext cx="42027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/>
              <a:t>2. Solapamiento Visual Inter-Clase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El análisis (PCA de histogramas) muestra solapamiento entre 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paper</a:t>
            </a:r>
            <a:r>
              <a:rPr lang="es" sz="1100"/>
              <a:t>/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cardboard</a:t>
            </a:r>
            <a:r>
              <a:rPr lang="es" sz="1100"/>
              <a:t>, 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plastic</a:t>
            </a:r>
            <a:r>
              <a:rPr lang="es" sz="1100"/>
              <a:t>/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glass y metal</a:t>
            </a:r>
            <a:r>
              <a:rPr lang="es" sz="1100"/>
              <a:t>/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trash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Las características de bajo nivel (color, brillo) son insuficientes para una discriminación precisa.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Esto se traduce en las imagenes de la derecha donde vemos que hay Alta semejanza visual entre imágenes de distintas categorías, lo que dificulta la correcta clasificación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525" y="324550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1839850" y="1391500"/>
            <a:ext cx="512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Estrategias de Mitigación: Data Augmentation</a:t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461200" y="1918225"/>
            <a:ext cx="78807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/>
              <a:t>La escasez de datos (1,769 imágenes para entrenamiento) y la variabilidad en el dominio real hacen el </a:t>
            </a:r>
            <a:r>
              <a:rPr i="1" lang="es" sz="1100"/>
              <a:t>Data Augmentation</a:t>
            </a:r>
            <a:r>
              <a:rPr lang="es" sz="1100"/>
              <a:t> esencial.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/>
              <a:t>Objetivos del Augmentation: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s" sz="1100"/>
              <a:t>Reducir Overfitting</a:t>
            </a:r>
            <a:r>
              <a:rPr lang="es" sz="1100"/>
              <a:t> debido al tamaño limitado del </a:t>
            </a:r>
            <a:r>
              <a:rPr i="1" lang="es" sz="1100"/>
              <a:t>dataset</a:t>
            </a:r>
            <a:r>
              <a:rPr lang="es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" sz="1100"/>
              <a:t>Hacer el modelo </a:t>
            </a:r>
            <a:r>
              <a:rPr b="1" lang="es" sz="1100"/>
              <a:t>invariante a transformaciones</a:t>
            </a:r>
            <a:r>
              <a:rPr lang="es" sz="1100"/>
              <a:t> naturales (rotación, iluminación).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" sz="1100"/>
              <a:t>Simular </a:t>
            </a:r>
            <a:r>
              <a:rPr b="1" lang="es" sz="1100"/>
              <a:t>condiciones realistas</a:t>
            </a:r>
            <a:r>
              <a:rPr lang="es" sz="1100"/>
              <a:t> de descarte de residuos.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/>
              <a:t>Transformaciones Aplicadas (Moderadas):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s" sz="1100"/>
              <a:t>Rotaciones (±30°)</a:t>
            </a:r>
            <a:r>
              <a:rPr lang="es" sz="1100"/>
              <a:t> y </a:t>
            </a:r>
            <a:r>
              <a:rPr b="1" lang="es" sz="1100"/>
              <a:t>Volteos (Horizontal/Vertical)</a:t>
            </a:r>
            <a:r>
              <a:rPr lang="es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" sz="1100"/>
              <a:t>ColorJitter (Brillo/Contraste):</a:t>
            </a:r>
            <a:r>
              <a:rPr lang="es" sz="1100"/>
              <a:t> Imita condiciones de iluminación variable.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" sz="1100"/>
              <a:t>RandomAffine (Scale/Translate):</a:t>
            </a:r>
            <a:r>
              <a:rPr lang="es" sz="1100"/>
              <a:t> Simula zoom y desplazamiento.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2010300" y="1281225"/>
            <a:ext cx="512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augmentation (implementación)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25" y="1662019"/>
            <a:ext cx="8669874" cy="348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1433775" y="1341375"/>
            <a:ext cx="5659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Modelos empleados: </a:t>
            </a:r>
            <a:r>
              <a:rPr b="1" lang="es" sz="1350">
                <a:highlight>
                  <a:srgbClr val="FFFFFF"/>
                </a:highlight>
              </a:rPr>
              <a:t>Baseline CNN</a:t>
            </a:r>
            <a:r>
              <a:rPr lang="es" sz="1350">
                <a:highlight>
                  <a:srgbClr val="FFFFFF"/>
                </a:highlight>
              </a:rPr>
              <a:t> (desde cero, sin augmentation)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243075" y="2144825"/>
            <a:ext cx="4449300" cy="2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/>
              <a:t>CNN Básica como Baseline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Entrenamos una </a:t>
            </a:r>
            <a:r>
              <a:rPr b="1" lang="es" sz="1100"/>
              <a:t>CNN simple desde cero</a:t>
            </a:r>
            <a:r>
              <a:rPr lang="es" sz="1100"/>
              <a:t> (pesos aleatorios) para tener un punto de partida.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Nos sirve para </a:t>
            </a:r>
            <a:r>
              <a:rPr b="1" lang="es" sz="1100"/>
              <a:t>saber cuál es el mínimo rendimiento posible</a:t>
            </a:r>
            <a:r>
              <a:rPr lang="es" sz="1100"/>
              <a:t> sin usar modelos avanzados.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Permite </a:t>
            </a:r>
            <a:r>
              <a:rPr b="1" lang="es" sz="1100"/>
              <a:t>verificar que todo el pipeline funciona</a:t>
            </a:r>
            <a:r>
              <a:rPr lang="es" sz="1100"/>
              <a:t>: preprocesamiento, DataLoaders y entrenamiento.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Luego, comparamos contra </a:t>
            </a:r>
            <a:r>
              <a:rPr b="1" lang="es" sz="1100"/>
              <a:t>Transfer Learning</a:t>
            </a:r>
            <a:r>
              <a:rPr lang="es" sz="1100"/>
              <a:t> para mostrar claramente la mejora al usar modelos pre-entrenados.</a:t>
            </a:r>
            <a:br>
              <a:rPr lang="es" sz="1100"/>
            </a:br>
            <a:endParaRPr sz="1100"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700" y="1972575"/>
            <a:ext cx="4108726" cy="30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91975"/>
            <a:ext cx="8839200" cy="311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1433775" y="1341375"/>
            <a:ext cx="5659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/>
              <a:t>Transfer Learning (ResNet50)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230600" y="1824800"/>
            <a:ext cx="75999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¿Por qué Transfer Learning?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1100"/>
              </a:spcAft>
              <a:buNone/>
            </a:pPr>
            <a:r>
              <a:rPr lang="es" sz="1050">
                <a:highlight>
                  <a:srgbClr val="FFFFFF"/>
                </a:highlight>
              </a:rPr>
              <a:t>El baseline CNN desde cero alcanzó </a:t>
            </a:r>
            <a:r>
              <a:rPr b="1" lang="es" sz="1050">
                <a:highlight>
                  <a:srgbClr val="FFFFFF"/>
                </a:highlight>
              </a:rPr>
              <a:t>68.5% accuracy</a:t>
            </a:r>
            <a:r>
              <a:rPr lang="es" sz="1050">
                <a:highlight>
                  <a:srgbClr val="FFFFFF"/>
                </a:highlight>
              </a:rPr>
              <a:t> con evidencia de overfitting. </a:t>
            </a:r>
            <a:endParaRPr sz="1100"/>
          </a:p>
        </p:txBody>
      </p:sp>
      <p:sp>
        <p:nvSpPr>
          <p:cNvPr id="147" name="Google Shape;147;p22"/>
          <p:cNvSpPr txBox="1"/>
          <p:nvPr/>
        </p:nvSpPr>
        <p:spPr>
          <a:xfrm>
            <a:off x="230600" y="2571750"/>
            <a:ext cx="66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Tenemos </a:t>
            </a:r>
            <a:r>
              <a:rPr b="1" lang="es" sz="1100"/>
              <a:t>pocos datos</a:t>
            </a:r>
            <a:r>
              <a:rPr lang="es" sz="1100"/>
              <a:t> (1.769 imágenes), insuficientes para entrenar 25M parámetros desde cero.</a:t>
            </a:r>
            <a:br>
              <a:rPr lang="es" sz="1100"/>
            </a:br>
            <a:endParaRPr sz="1100"/>
          </a:p>
        </p:txBody>
      </p:sp>
      <p:sp>
        <p:nvSpPr>
          <p:cNvPr id="148" name="Google Shape;148;p22"/>
          <p:cNvSpPr txBox="1"/>
          <p:nvPr/>
        </p:nvSpPr>
        <p:spPr>
          <a:xfrm>
            <a:off x="-233025" y="3019775"/>
            <a:ext cx="889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/>
              <a:t>ResNet50 ya aprendió </a:t>
            </a:r>
            <a:r>
              <a:rPr b="1" lang="es" sz="1100"/>
              <a:t>características genéricas</a:t>
            </a:r>
            <a:r>
              <a:rPr lang="es" sz="1100"/>
              <a:t> (bordes, texturas) y objetos parecidos a los del dataset (botellas, cajas, metal).</a:t>
            </a:r>
            <a:br>
              <a:rPr lang="es" sz="1100"/>
            </a:br>
            <a:endParaRPr sz="1100"/>
          </a:p>
        </p:txBody>
      </p:sp>
      <p:sp>
        <p:nvSpPr>
          <p:cNvPr id="149" name="Google Shape;149;p22"/>
          <p:cNvSpPr txBox="1"/>
          <p:nvPr/>
        </p:nvSpPr>
        <p:spPr>
          <a:xfrm>
            <a:off x="230600" y="3467400"/>
            <a:ext cx="6897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/>
              <a:t>Ventajas: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Aprovecha pesos pre-entrenados de ImageNet.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Permite </a:t>
            </a:r>
            <a:r>
              <a:rPr b="1" lang="es" sz="1100"/>
              <a:t>congelar</a:t>
            </a:r>
            <a:r>
              <a:rPr lang="es" sz="1100"/>
              <a:t> capas tempranas y </a:t>
            </a:r>
            <a:r>
              <a:rPr b="1" lang="es" sz="1100"/>
              <a:t>ajustar solo lo necesario</a:t>
            </a:r>
            <a:r>
              <a:rPr lang="es" sz="1100"/>
              <a:t>.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Evita re-aprender cosas básicas y reduce overfitting.</a:t>
            </a:r>
            <a:br>
              <a:rPr lang="es" sz="1100"/>
            </a:b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/>
        </p:nvSpPr>
        <p:spPr>
          <a:xfrm>
            <a:off x="1433775" y="1341375"/>
            <a:ext cx="5659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/>
              <a:t>Transfer Learning (ResNet50)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462100" y="2144825"/>
            <a:ext cx="7839600" cy="18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highlight>
                  <a:srgbClr val="FFFFFF"/>
                </a:highlight>
              </a:rPr>
              <a:t>Estrategia de Experimentación</a:t>
            </a:r>
            <a:endParaRPr b="1" sz="16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FFFFF"/>
                </a:highlight>
              </a:rPr>
              <a:t>Realizamos</a:t>
            </a:r>
            <a:r>
              <a:rPr lang="es">
                <a:highlight>
                  <a:srgbClr val="FFFFFF"/>
                </a:highlight>
              </a:rPr>
              <a:t> 4 entrenamientos para cumplir con los requisitos del TP y comparar enfoques:</a:t>
            </a:r>
            <a:endParaRPr>
              <a:highlight>
                <a:srgbClr val="FFFFFF"/>
              </a:highlight>
            </a:endParaRPr>
          </a:p>
          <a:p>
            <a:pPr indent="-31750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b="1" lang="es">
                <a:highlight>
                  <a:srgbClr val="FFFFFF"/>
                </a:highlight>
              </a:rPr>
              <a:t>Exp 1: Transfer Learning con congelamiento total</a:t>
            </a:r>
            <a:r>
              <a:rPr lang="es">
                <a:highlight>
                  <a:srgbClr val="FFFFFF"/>
                </a:highlight>
              </a:rPr>
              <a:t> (solo entrena clasificador)</a:t>
            </a:r>
            <a:endParaRPr>
              <a:highlight>
                <a:srgbClr val="FFFFFF"/>
              </a:highlight>
            </a:endParaRPr>
          </a:p>
          <a:p>
            <a:pPr indent="-3175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s">
                <a:highlight>
                  <a:srgbClr val="FFFFFF"/>
                </a:highlight>
              </a:rPr>
              <a:t>Exp 2: Fine-tuning parcial</a:t>
            </a:r>
            <a:r>
              <a:rPr lang="es">
                <a:highlight>
                  <a:srgbClr val="FFFFFF"/>
                </a:highlight>
              </a:rPr>
              <a:t> (descongela últimas capas convolucionales)</a:t>
            </a:r>
            <a:endParaRPr>
              <a:highlight>
                <a:srgbClr val="FFFFFF"/>
              </a:highlight>
            </a:endParaRPr>
          </a:p>
          <a:p>
            <a:pPr indent="-3175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s">
                <a:highlight>
                  <a:srgbClr val="FFFFFF"/>
                </a:highlight>
              </a:rPr>
              <a:t>Exp 3: Fine-tuning completo con LR bajo</a:t>
            </a:r>
            <a:r>
              <a:rPr lang="es">
                <a:highlight>
                  <a:srgbClr val="FFFFFF"/>
                </a:highlight>
              </a:rPr>
              <a:t> (entrena toda la red)</a:t>
            </a:r>
            <a:endParaRPr>
              <a:highlight>
                <a:srgbClr val="FFFFFF"/>
              </a:highlight>
            </a:endParaRPr>
          </a:p>
          <a:p>
            <a:pPr indent="-3175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s">
                <a:highlight>
                  <a:srgbClr val="FFFFFF"/>
                </a:highlight>
              </a:rPr>
              <a:t>Exp 4: Fine-tuning completo con Data Augmentation</a:t>
            </a:r>
            <a:r>
              <a:rPr lang="es">
                <a:highlight>
                  <a:srgbClr val="FFFFFF"/>
                </a:highlight>
              </a:rPr>
              <a:t> (combinación óptima)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1433775" y="1341375"/>
            <a:ext cx="56598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>
                <a:highlight>
                  <a:srgbClr val="FFFFFF"/>
                </a:highlight>
              </a:rPr>
              <a:t>Exp 1: Transfer Learning con congelamiento total</a:t>
            </a:r>
            <a:endParaRPr b="1"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240525" y="1979700"/>
            <a:ext cx="4135200" cy="20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Configuración:</a:t>
            </a:r>
            <a:endParaRPr b="1"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Todas las capas convolucionales congeladas (freeze_features=True)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Solo entrena clasificador FC (~1.3M parámetros)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Sin data augmentation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Adam, lr=0.001, 15 épocas</a:t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Hipótesis:</a:t>
            </a:r>
            <a:r>
              <a:rPr lang="es" sz="1000">
                <a:highlight>
                  <a:srgbClr val="FFFFFF"/>
                </a:highlight>
              </a:rPr>
              <a:t> Debería superar al baseline CNN (~68.5%) pero quizás no alcanzar el máximo potencial</a:t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9400" y="2139000"/>
            <a:ext cx="6248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-203525" y="3848400"/>
            <a:ext cx="880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/>
              <a:t>El modelo utiliza las características de alto nivel ya aprendidas por la red pre-entrenada (ResNet50), lo que demuestra que para un </a:t>
            </a:r>
            <a:r>
              <a:rPr i="1" lang="es" sz="1100"/>
              <a:t>dataset</a:t>
            </a:r>
            <a:r>
              <a:rPr lang="es" sz="1100"/>
              <a:t> pequeño como TrashNet, la extracci</a:t>
            </a:r>
            <a:r>
              <a:rPr lang="es" sz="1100"/>
              <a:t>ón de características ( Feature Extraction ) es fundamental</a:t>
            </a:r>
            <a:endParaRPr sz="1100"/>
          </a:p>
        </p:txBody>
      </p:sp>
      <p:sp>
        <p:nvSpPr>
          <p:cNvPr id="168" name="Google Shape;168;p24"/>
          <p:cNvSpPr txBox="1"/>
          <p:nvPr/>
        </p:nvSpPr>
        <p:spPr>
          <a:xfrm>
            <a:off x="240525" y="4351375"/>
            <a:ext cx="9189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/>
              <a:t>Esto sugiere que la precisión máxima se encuentra limitada porque las </a:t>
            </a:r>
            <a:r>
              <a:rPr i="1" lang="es" sz="1100"/>
              <a:t>features</a:t>
            </a:r>
            <a:r>
              <a:rPr lang="es" sz="1100"/>
              <a:t> genéricas de ImageNet no son totalmente óptimas para este dominio específico, lo que justifica la necesidad de pasar al siguiente paso: el </a:t>
            </a:r>
            <a:r>
              <a:rPr b="1" i="1" lang="es" sz="1100"/>
              <a:t>Fine-Tuning</a:t>
            </a:r>
            <a:r>
              <a:rPr b="1" lang="es" sz="1100"/>
              <a:t> Parcial o Completo</a:t>
            </a:r>
            <a:r>
              <a:rPr lang="es" sz="1100"/>
              <a:t> para "afinar" los pesos de las capas convolucionales y obtener un rendimiento aún mayor.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/>
        </p:nvSpPr>
        <p:spPr>
          <a:xfrm>
            <a:off x="1951825" y="1332125"/>
            <a:ext cx="5659800" cy="13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Exp 2: Fine-Tuning Parcial (últimas capas descongeladas)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240525" y="1979700"/>
            <a:ext cx="4135200" cy="26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Configuración:</a:t>
            </a:r>
            <a:endParaRPr b="1"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Descongela layer4 de ResNet50 (últimas 9 capas residuales)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Entrena ~10M parámetros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Sin data augmentation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Adam con learning rates diferenciados: lr=1e-4 (capas congeladas), lr=1e-3 (capas descongeladas)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15 épocas</a:t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Hipótesis:</a:t>
            </a:r>
            <a:r>
              <a:rPr lang="es" sz="1000">
                <a:highlight>
                  <a:srgbClr val="FFFFFF"/>
                </a:highlight>
              </a:rPr>
              <a:t> Mejorará sobre Exp1 al adaptar features de alto nivel al dominio de residuos</a:t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highlight>
                <a:srgbClr val="FFFFFF"/>
              </a:highlight>
            </a:endParaRPr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725" y="2164663"/>
            <a:ext cx="5734050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/>
        </p:nvSpPr>
        <p:spPr>
          <a:xfrm>
            <a:off x="311700" y="4098150"/>
            <a:ext cx="83379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/>
              <a:t>El </a:t>
            </a:r>
            <a:r>
              <a:rPr i="1" lang="es" sz="1100"/>
              <a:t>Fine-Tuning</a:t>
            </a:r>
            <a:r>
              <a:rPr lang="es" sz="1100"/>
              <a:t> parcial mejoró la precisión máxima al 91.53%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/>
              <a:t>La brecha entre la precisión de entrenamiento (≈99%) y validación evidencia un sobreajuste severo, justificando la inclusión de </a:t>
            </a:r>
            <a:r>
              <a:rPr i="1" lang="es" sz="1100"/>
              <a:t>Data Augmentation</a:t>
            </a:r>
            <a:r>
              <a:rPr lang="es" sz="1100"/>
              <a:t> en el siguiente experimento.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 txBox="1"/>
          <p:nvPr/>
        </p:nvSpPr>
        <p:spPr>
          <a:xfrm>
            <a:off x="2361950" y="1341375"/>
            <a:ext cx="5659800" cy="1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Exp 3: Fine-Tuning Completo con LR Bajo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"/>
          <p:cNvSpPr txBox="1"/>
          <p:nvPr/>
        </p:nvSpPr>
        <p:spPr>
          <a:xfrm>
            <a:off x="240525" y="1979700"/>
            <a:ext cx="41352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Configuración:</a:t>
            </a:r>
            <a:endParaRPr b="1"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TODAS las capas entrenables (freeze_features=False)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Entrena ~25.6M parámetros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Sin data augmentation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Adam, lr=1e-5 (muy bajo para no destruir pesos pre-entrenados)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15 épocas</a:t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Hipótesis:</a:t>
            </a:r>
            <a:r>
              <a:rPr lang="es" sz="1000">
                <a:highlight>
                  <a:srgbClr val="FFFFFF"/>
                </a:highlight>
              </a:rPr>
              <a:t> Podría mejorar ligeramente pero con riesgo de overfitting por falta de augmentation</a:t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highlight>
                <a:srgbClr val="FFFFFF"/>
              </a:highlight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4113" y="2109438"/>
            <a:ext cx="5676900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-212725" y="3977850"/>
            <a:ext cx="81528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/>
              <a:t>La precisión de validación (87.30%) fue superada por el Experimento 2 (91.53%),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/>
              <a:t>El modelo muestra un sobreajuste extremo, pasando de 65% a 95% de </a:t>
            </a:r>
            <a:r>
              <a:rPr i="1" lang="es" sz="1100"/>
              <a:t>Train Acc</a:t>
            </a:r>
            <a:r>
              <a:rPr lang="es" sz="1100"/>
              <a:t> en 15 épocas mientras la </a:t>
            </a:r>
            <a:r>
              <a:rPr i="1" lang="es" sz="1100"/>
              <a:t>Val Acc</a:t>
            </a:r>
            <a:r>
              <a:rPr lang="es" sz="1100"/>
              <a:t> se estanca, confirmando la necesidad urgente de Data Augmentation.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94" name="Google Shape;1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7"/>
          <p:cNvSpPr txBox="1"/>
          <p:nvPr/>
        </p:nvSpPr>
        <p:spPr>
          <a:xfrm>
            <a:off x="1443150" y="1313625"/>
            <a:ext cx="65787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Exp 4: Fine-Tuning Completo + Data Augmentation (Configuración Óptima)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240525" y="1979700"/>
            <a:ext cx="4135200" cy="3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highlight>
                  <a:srgbClr val="FFFFFF"/>
                </a:highlight>
              </a:rPr>
              <a:t>Configuración:</a:t>
            </a:r>
            <a:endParaRPr b="1"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050"/>
              <a:buChar char="●"/>
            </a:pPr>
            <a:r>
              <a:rPr lang="es" sz="1050">
                <a:highlight>
                  <a:srgbClr val="FFFFFF"/>
                </a:highlight>
              </a:rPr>
              <a:t>TODAS las capas entrenables</a:t>
            </a: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s" sz="1050">
                <a:highlight>
                  <a:srgbClr val="FFFFFF"/>
                </a:highlight>
              </a:rPr>
              <a:t>Entrena ~25.6M parámetros</a:t>
            </a: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es" sz="1050">
                <a:highlight>
                  <a:srgbClr val="FFFFFF"/>
                </a:highlight>
              </a:rPr>
              <a:t>CON data augmentation completo</a:t>
            </a:r>
            <a:r>
              <a:rPr lang="es" sz="1050">
                <a:highlight>
                  <a:srgbClr val="FFFFFF"/>
                </a:highlight>
              </a:rPr>
              <a:t> (rotación, flips, ColorJitter, RandomAffine)</a:t>
            </a: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s" sz="1050">
                <a:highlight>
                  <a:srgbClr val="FFFFFF"/>
                </a:highlight>
              </a:rPr>
              <a:t>Adam, lr=1e-4 (intermedio)</a:t>
            </a: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lang="es" sz="1050">
                <a:highlight>
                  <a:srgbClr val="FFFFFF"/>
                </a:highlight>
              </a:rPr>
              <a:t>20 épocas (más para aprovechar regularización del augmentation)</a:t>
            </a:r>
            <a:endParaRPr b="1"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Hipótesis:</a:t>
            </a:r>
            <a:r>
              <a:rPr lang="es" sz="1000">
                <a:highlight>
                  <a:srgbClr val="FFFFFF"/>
                </a:highlight>
              </a:rPr>
              <a:t> Configuración óptima que combina capacidad del modelo + regularización → mejor resultado esperado (~85-90%)</a:t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highlight>
                <a:srgbClr val="FFFFFF"/>
              </a:highlight>
            </a:endParaRPr>
          </a:p>
        </p:txBody>
      </p:sp>
      <p:pic>
        <p:nvPicPr>
          <p:cNvPr id="197" name="Google Shape;19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6100" y="2103288"/>
            <a:ext cx="6019800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/>
        </p:nvSpPr>
        <p:spPr>
          <a:xfrm>
            <a:off x="240525" y="4197150"/>
            <a:ext cx="9144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/>
              <a:t>Esta configuración óptima valida la hipótesis: se logra la mejor precisión de 94.71%, superando a todos los modelos sin </a:t>
            </a:r>
            <a:r>
              <a:rPr i="1" lang="es" sz="1100"/>
              <a:t>Data Augmentation</a:t>
            </a:r>
            <a:r>
              <a:rPr lang="es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/>
              <a:t>El </a:t>
            </a:r>
            <a:r>
              <a:rPr i="1" lang="es" sz="1100"/>
              <a:t>Data Augmentation</a:t>
            </a:r>
            <a:r>
              <a:rPr lang="es" sz="1100"/>
              <a:t> actuó como un regularizador efectivo, permitiendo que el modelo aproveche su máxima capacidad (</a:t>
            </a:r>
            <a:r>
              <a:rPr i="1" lang="es" sz="1100"/>
              <a:t>Fine-Tuning</a:t>
            </a:r>
            <a:r>
              <a:rPr lang="es" sz="1100"/>
              <a:t> completo) con una excelente generalización.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04" name="Google Shape;20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/>
        </p:nvSpPr>
        <p:spPr>
          <a:xfrm>
            <a:off x="2494125" y="1396875"/>
            <a:ext cx="6578700" cy="30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Comparación de Todos los Experimentos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40625"/>
            <a:ext cx="6487299" cy="33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7650" y="2355500"/>
            <a:ext cx="5272274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13" name="Google Shape;21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/>
          <p:nvPr/>
        </p:nvSpPr>
        <p:spPr>
          <a:xfrm>
            <a:off x="2494125" y="1396875"/>
            <a:ext cx="65787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Algunas conclusiones de esta comparación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9"/>
          <p:cNvSpPr txBox="1"/>
          <p:nvPr/>
        </p:nvSpPr>
        <p:spPr>
          <a:xfrm>
            <a:off x="115800" y="1982475"/>
            <a:ext cx="8716500" cy="28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s" sz="1300"/>
              <a:t>Transfer Learning es Crítico:</a:t>
            </a:r>
            <a:r>
              <a:rPr lang="es" sz="1300"/>
              <a:t> El uso de </a:t>
            </a:r>
            <a:r>
              <a:rPr b="1" lang="es" sz="1300"/>
              <a:t>ResNet50</a:t>
            </a:r>
            <a:r>
              <a:rPr lang="es" sz="1300"/>
              <a:t> fue esencial, aumentando la precisión en más de </a:t>
            </a:r>
            <a:r>
              <a:rPr b="1" lang="es" sz="1300"/>
              <a:t>18 puntos porcentuales</a:t>
            </a:r>
            <a:r>
              <a:rPr lang="es" sz="1300"/>
              <a:t> (de 71% a 89%) al usar </a:t>
            </a:r>
            <a:r>
              <a:rPr i="1" lang="es" sz="1300"/>
              <a:t>features</a:t>
            </a:r>
            <a:r>
              <a:rPr lang="es" sz="1300"/>
              <a:t> pre-aprendidas.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s" sz="1300"/>
              <a:t>Diagnóstico de Overfitting:</a:t>
            </a:r>
            <a:r>
              <a:rPr lang="es" sz="1300"/>
              <a:t> La ausencia de </a:t>
            </a:r>
            <a:r>
              <a:rPr i="1" lang="es" sz="1300"/>
              <a:t>Data Augmentation</a:t>
            </a:r>
            <a:r>
              <a:rPr lang="es" sz="1300"/>
              <a:t> en Exp 2 y Exp 3 condujo a un </a:t>
            </a:r>
            <a:r>
              <a:rPr b="1" lang="es" sz="1300"/>
              <a:t>sobreajuste severo</a:t>
            </a:r>
            <a:r>
              <a:rPr lang="es" sz="1300"/>
              <a:t>, lo que limitó la generalización del modelo.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s" sz="1300"/>
              <a:t>Configuración Óptima:</a:t>
            </a:r>
            <a:r>
              <a:rPr lang="es" sz="1300"/>
              <a:t> El </a:t>
            </a:r>
            <a:r>
              <a:rPr b="1" lang="es" sz="1300"/>
              <a:t>Experimento 4</a:t>
            </a:r>
            <a:r>
              <a:rPr lang="es" sz="1300"/>
              <a:t> validó la hipótesis: la combinación de </a:t>
            </a:r>
            <a:r>
              <a:rPr b="1" lang="es" sz="1300"/>
              <a:t>Fine-Tuning Completo</a:t>
            </a:r>
            <a:r>
              <a:rPr lang="es" sz="1300"/>
              <a:t> (máxima capacidad) con </a:t>
            </a:r>
            <a:r>
              <a:rPr b="1" lang="es" sz="1300"/>
              <a:t>Data Augmentation</a:t>
            </a:r>
            <a:r>
              <a:rPr lang="es" sz="1300"/>
              <a:t> (regularización efectiva) resultó en la mejor generalización con </a:t>
            </a:r>
            <a:r>
              <a:rPr b="1" lang="es" sz="1300"/>
              <a:t>94.71%</a:t>
            </a:r>
            <a:r>
              <a:rPr lang="es" sz="1300"/>
              <a:t> de precisión.</a:t>
            </a:r>
            <a:endParaRPr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21" name="Google Shape;2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21525"/>
            <a:ext cx="8804773" cy="382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28" name="Google Shape;2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1"/>
          <p:cNvSpPr txBox="1"/>
          <p:nvPr/>
        </p:nvSpPr>
        <p:spPr>
          <a:xfrm>
            <a:off x="2188900" y="1382950"/>
            <a:ext cx="820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Evaluación Detallada del Mejor Modelo</a:t>
            </a:r>
            <a:endParaRPr b="1" sz="1300">
              <a:highlight>
                <a:srgbClr val="FFFFFF"/>
              </a:highlight>
            </a:endParaRPr>
          </a:p>
        </p:txBody>
      </p:sp>
      <p:pic>
        <p:nvPicPr>
          <p:cNvPr id="230" name="Google Shape;2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75" y="1810325"/>
            <a:ext cx="3638255" cy="308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3605" y="1810325"/>
            <a:ext cx="4899636" cy="30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37" name="Google Shape;23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2"/>
          <p:cNvSpPr txBox="1"/>
          <p:nvPr/>
        </p:nvSpPr>
        <p:spPr>
          <a:xfrm>
            <a:off x="2188900" y="1382950"/>
            <a:ext cx="820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Resumen del Trabajo: Diagnóstico y Estrategia</a:t>
            </a:r>
            <a:endParaRPr b="1" sz="1300">
              <a:highlight>
                <a:srgbClr val="FFFFFF"/>
              </a:highlight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457950" y="1840900"/>
            <a:ext cx="74643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/>
              <a:t>Dataset TrashNet:</a:t>
            </a:r>
            <a:r>
              <a:rPr lang="es" sz="1100"/>
              <a:t> 2,527 imágenes de 6 clases de residuos (Papel, Plástico, Vidrio, Metal, Cartón, Basura).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/>
              <a:t>Objetivo:</a:t>
            </a:r>
            <a:r>
              <a:rPr lang="es" sz="1100"/>
              <a:t> Clasificación automática para optimizar el reciclaje.</a:t>
            </a:r>
            <a:endParaRPr sz="1100"/>
          </a:p>
        </p:txBody>
      </p:sp>
      <p:graphicFrame>
        <p:nvGraphicFramePr>
          <p:cNvPr id="240" name="Google Shape;240;p32"/>
          <p:cNvGraphicFramePr/>
          <p:nvPr/>
        </p:nvGraphicFramePr>
        <p:xfrm>
          <a:off x="542925" y="261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{13433710-4E86-414F-85BD-59AE8537B932}</a:tableStyleId>
              </a:tblPr>
              <a:tblGrid>
                <a:gridCol w="1733550"/>
                <a:gridCol w="3657600"/>
                <a:gridCol w="26670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Desafíos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Hallazgo del EDA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Implicación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Dataset Pequeño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Solo 1,769 imágenes de entrenamiento.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Alto riesgo de </a:t>
                      </a: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Overfitting</a:t>
                      </a: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Desbalance Severo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Clase "trash" (5.4%) vs. "paper" (23.5%).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Sesgo en el entrenamiento.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F1F1F"/>
                          </a:solidFill>
                        </a:rPr>
                        <a:t>Solapamiento Visual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Alta semejanza entre categorías (ej. papel/cartón).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Necesidad de </a:t>
                      </a:r>
                      <a:r>
                        <a:rPr i="1" lang="es" sz="1100">
                          <a:solidFill>
                            <a:srgbClr val="1F1F1F"/>
                          </a:solidFill>
                        </a:rPr>
                        <a:t>features</a:t>
                      </a:r>
                      <a:r>
                        <a:rPr lang="es" sz="1100">
                          <a:solidFill>
                            <a:srgbClr val="1F1F1F"/>
                          </a:solidFill>
                        </a:rPr>
                        <a:t> de alto nivel.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46" name="Google Shape;2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 txBox="1"/>
          <p:nvPr/>
        </p:nvSpPr>
        <p:spPr>
          <a:xfrm>
            <a:off x="2188900" y="1382950"/>
            <a:ext cx="820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Estrategia de Modelado y Pruebas</a:t>
            </a:r>
            <a:endParaRPr b="1" sz="1300">
              <a:highlight>
                <a:srgbClr val="FFFFFF"/>
              </a:highlight>
            </a:endParaRPr>
          </a:p>
        </p:txBody>
      </p:sp>
      <p:sp>
        <p:nvSpPr>
          <p:cNvPr id="248" name="Google Shape;248;p33"/>
          <p:cNvSpPr txBox="1"/>
          <p:nvPr/>
        </p:nvSpPr>
        <p:spPr>
          <a:xfrm>
            <a:off x="503725" y="2198100"/>
            <a:ext cx="77208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" sz="1100"/>
              <a:t>Baseline CNN:</a:t>
            </a:r>
            <a:r>
              <a:rPr lang="es" sz="1100"/>
              <a:t> Arquitectura desde cero (26M params) . Solo alcanzó </a:t>
            </a:r>
            <a:r>
              <a:rPr b="1" lang="es" sz="1100"/>
              <a:t>68.5% de </a:t>
            </a:r>
            <a:r>
              <a:rPr b="1" i="1" lang="es" sz="1100"/>
              <a:t>accuracy</a:t>
            </a:r>
            <a:r>
              <a:rPr lang="es" sz="1100"/>
              <a:t>. Se confirmó que el </a:t>
            </a:r>
            <a:r>
              <a:rPr i="1" lang="es" sz="1100"/>
              <a:t>dataset</a:t>
            </a:r>
            <a:r>
              <a:rPr lang="es" sz="1100"/>
              <a:t> es insuficiente.</a:t>
            </a:r>
            <a:br>
              <a:rPr lang="es" sz="1100"/>
            </a:b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" sz="1100"/>
              <a:t>Arquitectura Final:</a:t>
            </a:r>
            <a:r>
              <a:rPr lang="es" sz="1100"/>
              <a:t> </a:t>
            </a:r>
            <a:r>
              <a:rPr b="1" lang="es" sz="1100"/>
              <a:t>Transfer Learning</a:t>
            </a:r>
            <a:r>
              <a:rPr lang="es" sz="1100"/>
              <a:t> usando </a:t>
            </a:r>
            <a:r>
              <a:rPr b="1" lang="es" sz="1100"/>
              <a:t>ResNet50</a:t>
            </a:r>
            <a:r>
              <a:rPr lang="es" sz="1100"/>
              <a:t> (50 capas) con aprox 25.6M parámetros entrenables.</a:t>
            </a:r>
            <a:br>
              <a:rPr lang="es" sz="1100"/>
            </a:b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" sz="1100"/>
              <a:t>Data Augmentation:</a:t>
            </a:r>
            <a:r>
              <a:rPr lang="es" sz="1100"/>
              <a:t> Aplicación de rotaciones, </a:t>
            </a:r>
            <a:r>
              <a:rPr i="1" lang="es" sz="1100"/>
              <a:t>flips</a:t>
            </a:r>
            <a:r>
              <a:rPr lang="es" sz="1100"/>
              <a:t>, </a:t>
            </a:r>
            <a:r>
              <a:rPr i="1" lang="es" sz="1100"/>
              <a:t>ColorJitter</a:t>
            </a:r>
            <a:r>
              <a:rPr lang="es" sz="1100"/>
              <a:t> para </a:t>
            </a:r>
            <a:r>
              <a:rPr b="1" lang="es" sz="1100"/>
              <a:t>simular variabilidad natural</a:t>
            </a:r>
            <a:r>
              <a:rPr lang="es" sz="1100"/>
              <a:t> y </a:t>
            </a:r>
            <a:r>
              <a:rPr b="1" lang="es" sz="1100"/>
              <a:t>regularizar</a:t>
            </a:r>
            <a:r>
              <a:rPr lang="es" sz="1100"/>
              <a:t> el modelo.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54" name="Google Shape;2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4"/>
          <p:cNvSpPr txBox="1"/>
          <p:nvPr/>
        </p:nvSpPr>
        <p:spPr>
          <a:xfrm>
            <a:off x="1575275" y="1419575"/>
            <a:ext cx="820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Resultados, Lecciones Aprendidas y Conclusión Final</a:t>
            </a:r>
            <a:endParaRPr b="1" sz="1300">
              <a:highlight>
                <a:srgbClr val="FFFFFF"/>
              </a:highlight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247275" y="2054925"/>
            <a:ext cx="7995600" cy="19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/>
              <a:t>Rendimiento de los Modelos (Resumen de Experimentos)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" sz="1100"/>
              <a:t>Se probaron varias configuraciones de </a:t>
            </a:r>
            <a:r>
              <a:rPr i="1" lang="es" sz="1100"/>
              <a:t>Transfer Learning</a:t>
            </a:r>
            <a:r>
              <a:rPr lang="es" sz="1100"/>
              <a:t> (TL), pero la clave fue la regularización: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s" sz="1100"/>
              <a:t>Exp 1 (TL Congelado):</a:t>
            </a:r>
            <a:r>
              <a:rPr lang="es" sz="1100"/>
              <a:t> Demostró la superioridad del TL con un </a:t>
            </a:r>
            <a:r>
              <a:rPr b="1" lang="es" sz="1100"/>
              <a:t>salto inmediato de aprox</a:t>
            </a:r>
            <a:r>
              <a:rPr b="1" lang="es" sz="1100"/>
              <a:t> 20 </a:t>
            </a:r>
            <a:r>
              <a:rPr b="1" lang="es" sz="1100"/>
              <a:t>puntos</a:t>
            </a:r>
            <a:r>
              <a:rPr lang="es" sz="1100"/>
              <a:t> sobre el </a:t>
            </a:r>
            <a:r>
              <a:rPr i="1" lang="es" sz="1100"/>
              <a:t>baseline</a:t>
            </a:r>
            <a:r>
              <a:rPr lang="es" sz="1100"/>
              <a:t>, alcanzando approx 89% de </a:t>
            </a:r>
            <a:r>
              <a:rPr i="1" lang="es" sz="1100"/>
              <a:t>accuracy</a:t>
            </a:r>
            <a:r>
              <a:rPr lang="es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" sz="1100"/>
              <a:t>Exp 2 y 3 (Fine-Tuning sin Augmentation):</a:t>
            </a:r>
            <a:r>
              <a:rPr lang="es" sz="1100"/>
              <a:t> Estos modelos mostraron un </a:t>
            </a:r>
            <a:r>
              <a:rPr b="1" lang="es" sz="1100"/>
              <a:t>sobreajuste severo</a:t>
            </a:r>
            <a:r>
              <a:rPr lang="es" sz="1100"/>
              <a:t> (Train Acc aprox 99% vs Val Acc máx approx 91%), demostrando que solo aumentar la capacidad no era suficiente.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" sz="1100"/>
              <a:t>Exp 4 (Configuración Óptima):</a:t>
            </a:r>
            <a:r>
              <a:rPr lang="es" sz="1100"/>
              <a:t> </a:t>
            </a:r>
            <a:r>
              <a:rPr b="1" lang="es" sz="1100"/>
              <a:t>Fine-Tuning Completo + Data Augmentation</a:t>
            </a:r>
            <a:r>
              <a:rPr lang="es" sz="1100"/>
              <a:t> logró el mejor desempeño: </a:t>
            </a:r>
            <a:r>
              <a:rPr b="1" lang="es" sz="1100"/>
              <a:t>94.71% de </a:t>
            </a:r>
            <a:r>
              <a:rPr b="1" i="1" lang="es" sz="1100"/>
              <a:t>accuracy</a:t>
            </a:r>
            <a:r>
              <a:rPr lang="es" sz="1100"/>
              <a:t>.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62" name="Google Shape;26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5"/>
          <p:cNvSpPr txBox="1"/>
          <p:nvPr/>
        </p:nvSpPr>
        <p:spPr>
          <a:xfrm>
            <a:off x="2198075" y="1364625"/>
            <a:ext cx="8209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Hallazgos Clave y Lecciones Aprendidas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113700" y="1767825"/>
            <a:ext cx="9030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1. Transfer Learning es Crítico para Datasets Pequeños</a:t>
            </a:r>
            <a:endParaRPr b="1"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El baseline CNN desde cero alcanzó solo 68.5% con ~26M parámetros y 1,769 imágenes de entrenamiento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Transfer Learning desde ImageNet mejoró inmediatamente a ~75-80% incluso con capas congeladas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s" sz="1000">
                <a:highlight>
                  <a:srgbClr val="FFFFFF"/>
                </a:highlight>
              </a:rPr>
              <a:t>Lección:</a:t>
            </a:r>
            <a:r>
              <a:rPr lang="es" sz="1000">
                <a:highlight>
                  <a:srgbClr val="FFFFFF"/>
                </a:highlight>
              </a:rPr>
              <a:t> Con &lt;10K imágenes/clase, </a:t>
            </a:r>
            <a:r>
              <a:rPr b="1" lang="es" sz="1000">
                <a:highlight>
                  <a:srgbClr val="FFFFFF"/>
                </a:highlight>
              </a:rPr>
              <a:t>siempre usar Transfer Learning</a:t>
            </a:r>
            <a:endParaRPr b="1"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2. Data Augmentation es Regularización, No Solo Aumento de Datos</a:t>
            </a:r>
            <a:endParaRPr b="1"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Fine-tuning completo sin augmentation mostró overfitting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Fine-tuning completo + augmentation generalizó mejor (~5-10% mejora)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s" sz="1000">
                <a:highlight>
                  <a:srgbClr val="FFFFFF"/>
                </a:highlight>
              </a:rPr>
              <a:t>Lección:</a:t>
            </a:r>
            <a:r>
              <a:rPr lang="es" sz="1000">
                <a:highlight>
                  <a:srgbClr val="FFFFFF"/>
                </a:highlight>
              </a:rPr>
              <a:t> Data augmentation es especialmente crítico cuando se fine-tunean todas las capas</a:t>
            </a:r>
            <a:endParaRPr sz="1000"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rgbClr val="FFFFFF"/>
                </a:highlight>
              </a:rPr>
              <a:t>3. El Desbalance de Clases Afecta Desproporcionadamente Clases Minoritarias</a:t>
            </a:r>
            <a:endParaRPr b="1"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La clase "trash" (5.4% del dataset) tuvo consistentemente menor recall (~50-60%) incluso en el mejor modelo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rgbClr val="FFFFFF"/>
                </a:highlight>
              </a:rPr>
              <a:t>Paper y plastic (clases mayoritarias) alcanzaron ~90%+ F1-Score</a:t>
            </a:r>
            <a:endParaRPr sz="1000">
              <a:highlight>
                <a:srgbClr val="FFFFFF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s" sz="1000">
                <a:highlight>
                  <a:srgbClr val="FFFFFF"/>
                </a:highlight>
              </a:rPr>
              <a:t>Lección:</a:t>
            </a:r>
            <a:r>
              <a:rPr lang="es" sz="1000">
                <a:highlight>
                  <a:srgbClr val="FFFFFF"/>
                </a:highlight>
              </a:rPr>
              <a:t> Considerar </a:t>
            </a:r>
            <a:r>
              <a:rPr b="1" lang="es" sz="1000">
                <a:highlight>
                  <a:srgbClr val="FFFFFF"/>
                </a:highlight>
              </a:rPr>
              <a:t>class weighting</a:t>
            </a:r>
            <a:r>
              <a:rPr lang="es" sz="1000">
                <a:highlight>
                  <a:srgbClr val="FFFFFF"/>
                </a:highlight>
              </a:rPr>
              <a:t> o </a:t>
            </a:r>
            <a:r>
              <a:rPr b="1" lang="es" sz="1000">
                <a:highlight>
                  <a:srgbClr val="FFFFFF"/>
                </a:highlight>
              </a:rPr>
              <a:t>oversampling</a:t>
            </a:r>
            <a:r>
              <a:rPr lang="es" sz="1000">
                <a:highlight>
                  <a:srgbClr val="FFFFFF"/>
                </a:highlight>
              </a:rPr>
              <a:t> de clases minoritarias en trabajo futuro</a:t>
            </a:r>
            <a:endParaRPr sz="1000">
              <a:highlight>
                <a:srgbClr val="FFFFFF"/>
              </a:highlight>
            </a:endParaRPr>
          </a:p>
          <a:p>
            <a:pPr indent="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50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70" name="Google Shape;27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6"/>
          <p:cNvSpPr txBox="1"/>
          <p:nvPr/>
        </p:nvSpPr>
        <p:spPr>
          <a:xfrm>
            <a:off x="2198075" y="1364625"/>
            <a:ext cx="8209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Hallazgos Clave y Lecciones Aprendidas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113700" y="1767825"/>
            <a:ext cx="9030300" cy="27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chemeClr val="lt1"/>
                </a:highlight>
              </a:rPr>
              <a:t>4. La Similitud Inter-Clase Requiere Features de Alto Nivel</a:t>
            </a:r>
            <a:endParaRPr b="1" sz="1000">
              <a:highlight>
                <a:schemeClr val="lt1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chemeClr val="lt1"/>
                </a:highlight>
              </a:rPr>
              <a:t>Paper vs cardboard y plastic vs glass son visualmente similares (confirmado por PCA)</a:t>
            </a:r>
            <a:endParaRPr sz="1000">
              <a:highlight>
                <a:schemeClr val="lt1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chemeClr val="lt1"/>
                </a:highlight>
              </a:rPr>
              <a:t>El baseline CNN de 4 capas no capturó suficientes características discriminativas</a:t>
            </a:r>
            <a:endParaRPr sz="1000">
              <a:highlight>
                <a:schemeClr val="lt1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chemeClr val="lt1"/>
                </a:highlight>
              </a:rPr>
              <a:t>ResNet50 (50 capas) con features pre-aprendidas resolvió estas confusiones</a:t>
            </a:r>
            <a:endParaRPr sz="1000">
              <a:highlight>
                <a:schemeClr val="lt1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s" sz="1000">
                <a:highlight>
                  <a:schemeClr val="lt1"/>
                </a:highlight>
              </a:rPr>
              <a:t>Lección:</a:t>
            </a:r>
            <a:r>
              <a:rPr lang="es" sz="1000">
                <a:highlight>
                  <a:schemeClr val="lt1"/>
                </a:highlight>
              </a:rPr>
              <a:t> Problemas con alta similitud inter-clase requieren </a:t>
            </a:r>
            <a:r>
              <a:rPr b="1" lang="es" sz="1000">
                <a:highlight>
                  <a:schemeClr val="lt1"/>
                </a:highlight>
              </a:rPr>
              <a:t>arquitecturas profundas</a:t>
            </a:r>
            <a:r>
              <a:rPr lang="es" sz="1000">
                <a:highlight>
                  <a:schemeClr val="lt1"/>
                </a:highlight>
              </a:rPr>
              <a:t> (ResNet, EfficientNet, ViT)</a:t>
            </a:r>
            <a:endParaRPr sz="1000">
              <a:highlight>
                <a:schemeClr val="lt1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highlight>
                  <a:schemeClr val="lt1"/>
                </a:highlight>
              </a:rPr>
              <a:t>5. Fine-Tuning Parcial vs Completo: Trade-off Tiempo/Precisión</a:t>
            </a:r>
            <a:endParaRPr b="1" sz="1000">
              <a:highlight>
                <a:schemeClr val="lt1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chemeClr val="lt1"/>
                </a:highlight>
              </a:rPr>
              <a:t>Fine-tuning parcial (layer4): ~3-5% menos accuracy pero ~50% más rápido de entrenar</a:t>
            </a:r>
            <a:endParaRPr sz="1000">
              <a:highlight>
                <a:schemeClr val="lt1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s" sz="1000">
                <a:highlight>
                  <a:schemeClr val="lt1"/>
                </a:highlight>
              </a:rPr>
              <a:t>Fine-tuning completo: Mejor accuracy pero requiere más épocas y regularización cuidadosa</a:t>
            </a:r>
            <a:endParaRPr sz="1000">
              <a:highlight>
                <a:schemeClr val="lt1"/>
              </a:highlight>
            </a:endParaRPr>
          </a:p>
          <a:p>
            <a:pPr indent="-292100" lvl="0" marL="45720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s" sz="1000">
                <a:highlight>
                  <a:schemeClr val="lt1"/>
                </a:highlight>
              </a:rPr>
              <a:t>Lección:</a:t>
            </a:r>
            <a:r>
              <a:rPr lang="es" sz="1000">
                <a:highlight>
                  <a:schemeClr val="lt1"/>
                </a:highlight>
              </a:rPr>
              <a:t> Para prototipado rápido, usar fine-tuning parcial; para producción, fine-tuning completo + augmentation</a:t>
            </a:r>
            <a:endParaRPr sz="1000">
              <a:highlight>
                <a:schemeClr val="lt1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highlight>
                <a:srgbClr val="FFFFFF"/>
              </a:highlight>
            </a:endParaRPr>
          </a:p>
          <a:p>
            <a:pPr indent="0" lvl="0" marL="457200" marR="190500" rtl="0" algn="l">
              <a:lnSpc>
                <a:spcPct val="115000"/>
              </a:lnSpc>
              <a:spcBef>
                <a:spcPts val="1000"/>
              </a:spcBef>
              <a:spcAft>
                <a:spcPts val="50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78" name="Google Shape;2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7"/>
          <p:cNvSpPr txBox="1"/>
          <p:nvPr/>
        </p:nvSpPr>
        <p:spPr>
          <a:xfrm>
            <a:off x="2720125" y="1364625"/>
            <a:ext cx="8209500" cy="17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rgbClr val="FFFFFF"/>
                </a:highlight>
              </a:rPr>
              <a:t>Conclusión Final</a:t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300">
              <a:highlight>
                <a:srgbClr val="FFFFFF"/>
              </a:highlight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0" y="2060725"/>
            <a:ext cx="9561600" cy="25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highlight>
                  <a:srgbClr val="FFFFFF"/>
                </a:highlight>
              </a:rPr>
              <a:t>Este trabajo demostró exitosamente que </a:t>
            </a:r>
            <a:r>
              <a:rPr b="1" lang="es" sz="1050">
                <a:highlight>
                  <a:srgbClr val="FFFFFF"/>
                </a:highlight>
              </a:rPr>
              <a:t>Transfer Learning + Data Augmentation</a:t>
            </a:r>
            <a:r>
              <a:rPr lang="es" sz="1050">
                <a:highlight>
                  <a:srgbClr val="FFFFFF"/>
                </a:highlight>
              </a:rPr>
              <a:t> es la combinación óptima para clasificación de residuos con datasets limitados:</a:t>
            </a: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050"/>
              <a:buChar char="●"/>
            </a:pPr>
            <a:r>
              <a:rPr b="1" lang="es" sz="1050">
                <a:highlight>
                  <a:srgbClr val="FFFFFF"/>
                </a:highlight>
              </a:rPr>
              <a:t>Partiendo de un baseline CNN de 68.5% accuracy</a:t>
            </a:r>
            <a:r>
              <a:rPr lang="es" sz="1050">
                <a:highlight>
                  <a:srgbClr val="FFFFFF"/>
                </a:highlight>
              </a:rPr>
              <a:t>, logramos </a:t>
            </a:r>
            <a:r>
              <a:rPr b="1" lang="es" sz="1050">
                <a:highlight>
                  <a:srgbClr val="FFFFFF"/>
                </a:highlight>
              </a:rPr>
              <a:t>~85-90% accuracy</a:t>
            </a:r>
            <a:r>
              <a:rPr lang="es" sz="1050">
                <a:highlight>
                  <a:srgbClr val="FFFFFF"/>
                </a:highlight>
              </a:rPr>
              <a:t> (mejora de ~20 puntos) mediante:</a:t>
            </a:r>
            <a:endParaRPr sz="1050">
              <a:highlight>
                <a:srgbClr val="FFFFFF"/>
              </a:highlight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s" sz="1050">
                <a:highlight>
                  <a:srgbClr val="FFFFFF"/>
                </a:highlight>
              </a:rPr>
              <a:t>Aprovechamiento de características pre-aprendidas de ImageNet (ResNet50)</a:t>
            </a:r>
            <a:endParaRPr sz="1050">
              <a:highlight>
                <a:srgbClr val="FFFFFF"/>
              </a:highlight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s" sz="1050">
                <a:highlight>
                  <a:srgbClr val="FFFFFF"/>
                </a:highlight>
              </a:rPr>
              <a:t>Fine-tuning completo de todas las capas con learning rate bajo</a:t>
            </a:r>
            <a:endParaRPr sz="1050">
              <a:highlight>
                <a:srgbClr val="FFFFFF"/>
              </a:highlight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AutoNum type="arabicPeriod"/>
            </a:pPr>
            <a:r>
              <a:rPr lang="es" sz="1050">
                <a:highlight>
                  <a:srgbClr val="FFFFFF"/>
                </a:highlight>
              </a:rPr>
              <a:t>Data augmentation moderado para regularización</a:t>
            </a:r>
            <a:br>
              <a:rPr lang="es" sz="1050">
                <a:highlight>
                  <a:srgbClr val="FFFFFF"/>
                </a:highlight>
              </a:rPr>
            </a:b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es" sz="1050">
                <a:highlight>
                  <a:srgbClr val="FFFFFF"/>
                </a:highlight>
              </a:rPr>
              <a:t>El análisis exploratorio fue fundamental:</a:t>
            </a:r>
            <a:r>
              <a:rPr lang="es" sz="1050">
                <a:highlight>
                  <a:srgbClr val="FFFFFF"/>
                </a:highlight>
              </a:rPr>
              <a:t> Las decisiones de arquitectura, augmentation y estrategia de entrenamiento se fundamentaron directamente en hallazgos del EDA (desbalance, solapamiento, variabilidad)</a:t>
            </a:r>
            <a:br>
              <a:rPr lang="es" sz="1050">
                <a:highlight>
                  <a:srgbClr val="FFFFFF"/>
                </a:highlight>
              </a:rPr>
            </a:br>
            <a:endParaRPr sz="1050"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es" sz="1050">
                <a:highlight>
                  <a:srgbClr val="FFFFFF"/>
                </a:highlight>
              </a:rPr>
              <a:t>Transfer Learning no es opcional en este contexto:</a:t>
            </a:r>
            <a:r>
              <a:rPr lang="es" sz="1050">
                <a:highlight>
                  <a:srgbClr val="FFFFFF"/>
                </a:highlight>
              </a:rPr>
              <a:t> Con solo 1,769 imágenes de entrenamiento, entrenar desde cero es inviable. ImageNet provee un starting point robusto que reduce drásticamente la cantidad de datos necesarios.</a:t>
            </a:r>
            <a:endParaRPr sz="105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311700" y="244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Trabajo Final Integrador​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Visión por Computadora II​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Dataset Trash Net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86" name="Google Shape;28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975" y="184175"/>
            <a:ext cx="2570325" cy="9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3800" y="1636050"/>
            <a:ext cx="582930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